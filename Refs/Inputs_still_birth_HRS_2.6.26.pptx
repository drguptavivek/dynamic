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273"/>
    <p:restoredTop sz="93735"/>
  </p:normalViewPr>
  <p:slideViewPr>
    <p:cSldViewPr snapToGrid="0">
      <p:cViewPr>
        <p:scale>
          <a:sx n="60" d="100"/>
          <a:sy n="60" d="100"/>
        </p:scale>
        <p:origin x="14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A7567-EF53-EB76-7E27-BC37559B2E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D02C49-23FB-AC7A-32DD-CD9A422500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EB751-B13D-046C-8AAE-8B89B908C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CF931-A20D-B641-ADCF-0467FDC4C280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4E6E9-7981-8E3A-B412-456B8F915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A6239-F113-0949-8C2B-31C429B6A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CA628-B39F-684F-B872-F1C13A8F9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548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187DD-A81B-D6D0-5535-E526621B2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A6B5B-8EF0-06BF-62C3-9B9B81C97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11D4F-7E26-D93F-3622-F708F13E5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CF931-A20D-B641-ADCF-0467FDC4C280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975CB-9A11-9294-74C6-4047BDE74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13C92-56D8-4626-840A-52BCE4345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CA628-B39F-684F-B872-F1C13A8F9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100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E86B6-E9D3-BFB3-BE8C-FC36C08DC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1FBB35-8AC8-BB24-9A37-E0BF0F798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36C67-1140-E128-0844-2B6A99417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CF931-A20D-B641-ADCF-0467FDC4C280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91AA6-DE3C-7074-5376-722F98E10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9EDAE-EB27-6E4C-E7B4-FB582AC5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CA628-B39F-684F-B872-F1C13A8F9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986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49361-27BB-F72B-238E-A05FAD379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1F47B-5A17-7BDF-FCCC-087A14DD31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D6F74-6297-EFFA-DE5B-C19FE8F1D2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05F30E-CB3F-2939-7E1A-05BF3B5B9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CF931-A20D-B641-ADCF-0467FDC4C280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98205A-D3E4-A996-F69B-1D536DAE8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818FC-87B8-820F-BC70-1185625A6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CA628-B39F-684F-B872-F1C13A8F9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261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937A5-DD3A-A77A-60AF-3FEDC6532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0378B-53D4-4627-0C84-B195835C0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1221A5-805F-4C63-0BDC-467DF0A783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0D25BF-F6E5-3E5B-44B0-23C42E13F3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D70B8F-36BE-9F9A-DDDC-5F5E15A84E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A79EF5-9314-A3F0-2109-6351BDEF5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CF931-A20D-B641-ADCF-0467FDC4C280}" type="datetimeFigureOut">
              <a:rPr lang="en-US" smtClean="0"/>
              <a:t>6/2/26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DEAC35-7DBF-E043-5466-19D2FCE24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E69D6B-7940-D5BC-A4BE-00AE91F80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CA628-B39F-684F-B872-F1C13A8F9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274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8E77E-BB18-D972-496C-B13061236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6FA71B-BEBD-FE82-6D02-4521688A9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CF931-A20D-B641-ADCF-0467FDC4C280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7817A-5A28-2774-1989-F44A970B7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97EC3-E464-BF09-9D35-16481912B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CA628-B39F-684F-B872-F1C13A8F9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936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D0D75E-4C9E-F631-EA93-BD2A4832A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CF931-A20D-B641-ADCF-0467FDC4C280}" type="datetimeFigureOut">
              <a:rPr lang="en-US" smtClean="0"/>
              <a:t>6/2/26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1905FF-CF69-3515-EF76-4BA40A8F9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160D9B-84FD-1C6F-6B0C-0A51FBE98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CA628-B39F-684F-B872-F1C13A8F9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503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76E5F-CA44-82CE-C01D-9E9CB4280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FEC3B-B62C-3AB3-4BC9-CFA0BFA78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58CA3E-3846-79BA-8097-5743D9F21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1850D-A97B-7487-BBD4-70173DCCE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CF931-A20D-B641-ADCF-0467FDC4C280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889E6-D3D9-F9AC-8989-111C6A06E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50494-ED24-BCA6-A3BF-BD77D2A26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CA628-B39F-684F-B872-F1C13A8F9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488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F4BF2-D0D0-F95E-C62C-887CB673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C56FCE-149E-8CFD-3F73-A16D047340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4B7CE8-A76B-5693-F87F-9A26B320B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1C6329-8F84-3EB1-C32A-F231CDB2E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CF931-A20D-B641-ADCF-0467FDC4C280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8092C7-E0F2-DBA5-41E2-FD281A09C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3542A5-195B-A225-3421-3B0DDA105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CA628-B39F-684F-B872-F1C13A8F9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201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798CE-8326-DE27-2EFB-C1DDA1924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23AD22-D656-76F7-4914-0F2FF5CAD0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956AD-5A85-5223-E3E1-7BC2055F7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CF931-A20D-B641-ADCF-0467FDC4C280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1C34D-7964-CD2D-3392-5E255096B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8F381-3122-291C-3B31-15A3BF687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CA628-B39F-684F-B872-F1C13A8F9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371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A3D4A2-BE90-DFB6-0B33-D3E0831487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7EBC26-A8A1-8E51-78E5-A135F405D5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7C84F-1E0D-C982-7A13-EAE4EB2C1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CF931-A20D-B641-ADCF-0467FDC4C280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5AF6B-FBBA-AD4F-1118-7D79FB11A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0E2B4-A828-DC0F-76E2-22ADFEACE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CA628-B39F-684F-B872-F1C13A8F9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317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8DF58E-5A81-9A97-FECA-E454FA6DE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F4B60-5579-A59F-11AE-4D502A26D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E98D2-2521-BD0B-4E8F-37A78985AA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1CF931-A20D-B641-ADCF-0467FDC4C280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28BEA-38B4-3D09-C1CA-6F82C466BD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925D5-DF52-B599-D88D-8B41F897E5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3CA628-B39F-684F-B872-F1C13A8F9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496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2C4BFA1-2075-4901-9E24-E41D1FDD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9" name="Oval 5">
              <a:extLst>
                <a:ext uri="{FF2B5EF4-FFF2-40B4-BE49-F238E27FC236}">
                  <a16:creationId xmlns:a16="http://schemas.microsoft.com/office/drawing/2014/main" id="{985A7375-E3AF-4F5C-85AE-17E883295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307F65-8304-4FA8-A841-D4D762541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Oval 5">
              <a:extLst>
                <a:ext uri="{FF2B5EF4-FFF2-40B4-BE49-F238E27FC236}">
                  <a16:creationId xmlns:a16="http://schemas.microsoft.com/office/drawing/2014/main" id="{C8B8394C-136F-4E05-A002-D93A5E79CD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053FB2EE-284F-4C87-AB3D-BBF87A9FA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FF301F-602B-0C76-0CDA-FA1E1AA59C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76538"/>
            <a:ext cx="9144000" cy="1381188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bg2"/>
                </a:solidFill>
              </a:rPr>
              <a:t>Feedback/Comments on Questionnaire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CF885A-642A-9037-941D-0FD5318F6E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95800"/>
            <a:ext cx="9144000" cy="762000"/>
          </a:xfrm>
        </p:spPr>
        <p:txBody>
          <a:bodyPr>
            <a:normAutofit/>
          </a:bodyPr>
          <a:lstStyle/>
          <a:p>
            <a:r>
              <a:rPr lang="en-US" sz="1800"/>
              <a:t>The Dynamics of Late Fetal and Neonatal Mortality in India Context</a:t>
            </a:r>
          </a:p>
        </p:txBody>
      </p:sp>
    </p:spTree>
    <p:extLst>
      <p:ext uri="{BB962C8B-B14F-4D97-AF65-F5344CB8AC3E}">
        <p14:creationId xmlns:p14="http://schemas.microsoft.com/office/powerpoint/2010/main" val="32684942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A3F4F-69CE-B338-17BA-3CBCABB97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-49272"/>
            <a:ext cx="10515600" cy="1325563"/>
          </a:xfrm>
        </p:spPr>
        <p:txBody>
          <a:bodyPr/>
          <a:lstStyle/>
          <a:p>
            <a:r>
              <a:rPr lang="en-GB" b="1" dirty="0"/>
              <a:t>Form summary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CD2AE61-B541-6CB8-F239-F9E83EBFE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050076"/>
              </p:ext>
            </p:extLst>
          </p:nvPr>
        </p:nvGraphicFramePr>
        <p:xfrm>
          <a:off x="1524000" y="1276291"/>
          <a:ext cx="8712820" cy="4999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6410">
                  <a:extLst>
                    <a:ext uri="{9D8B030D-6E8A-4147-A177-3AD203B41FA5}">
                      <a16:colId xmlns:a16="http://schemas.microsoft.com/office/drawing/2014/main" val="973213065"/>
                    </a:ext>
                  </a:extLst>
                </a:gridCol>
                <a:gridCol w="4356410">
                  <a:extLst>
                    <a:ext uri="{9D8B030D-6E8A-4147-A177-3AD203B41FA5}">
                      <a16:colId xmlns:a16="http://schemas.microsoft.com/office/drawing/2014/main" val="2165018729"/>
                    </a:ext>
                  </a:extLst>
                </a:gridCol>
              </a:tblGrid>
              <a:tr h="793385">
                <a:tc>
                  <a:txBody>
                    <a:bodyPr/>
                    <a:lstStyle/>
                    <a:p>
                      <a:r>
                        <a:rPr lang="en-US" sz="2400" dirty="0"/>
                        <a:t>Discussion point/Variable 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Remarks/Suggestions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560891"/>
                  </a:ext>
                </a:extLst>
              </a:tr>
              <a:tr h="1194461">
                <a:tc>
                  <a:txBody>
                    <a:bodyPr/>
                    <a:lstStyle/>
                    <a:p>
                      <a:r>
                        <a:rPr lang="en-GB" sz="24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Timings of pregnancy follow up form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Duration of visit may be revised from monthly to “twice till five months” and then “every month after fifth month of pregnancy”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037051"/>
                  </a:ext>
                </a:extLst>
              </a:tr>
              <a:tr h="1731610">
                <a:tc>
                  <a:txBody>
                    <a:bodyPr/>
                    <a:lstStyle/>
                    <a:p>
                      <a:r>
                        <a:rPr lang="en-GB" sz="24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Timings of pregnancy outcome form (POF)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The timings can be changed from “day of delivery or day after” to “within 7 days” as hospitalisation stay may extend beyond 48 hours. 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051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4325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3E318-5B53-5D72-FFFD-475BF33B6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GB" b="1" u="sng" dirty="0"/>
              <a:t>Baseline household questionnaire</a:t>
            </a:r>
            <a:br>
              <a:rPr lang="en-GB" b="1" u="sng" dirty="0"/>
            </a:br>
            <a:br>
              <a:rPr lang="en-I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310C9-1AD3-90BA-7DCB-0D2E2A774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Not available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7574E53-EF9C-DCB2-F8D7-748C68904E2D}"/>
              </a:ext>
            </a:extLst>
          </p:cNvPr>
          <p:cNvSpPr txBox="1">
            <a:spLocks/>
          </p:cNvSpPr>
          <p:nvPr/>
        </p:nvSpPr>
        <p:spPr>
          <a:xfrm>
            <a:off x="838200" y="315118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/>
              <a:t>Baseline Women questionnaire</a:t>
            </a:r>
            <a:br>
              <a:rPr lang="en-GB" b="1" u="sng" dirty="0"/>
            </a:br>
            <a:br>
              <a:rPr lang="en-IN" dirty="0"/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BE89F4-6B28-17B9-CB41-97495860433D}"/>
              </a:ext>
            </a:extLst>
          </p:cNvPr>
          <p:cNvSpPr txBox="1"/>
          <p:nvPr/>
        </p:nvSpPr>
        <p:spPr>
          <a:xfrm>
            <a:off x="838200" y="400129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800" dirty="0"/>
              <a:t>Not available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37669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F4D82-C9F7-95E7-0AFE-CA21F68C1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10515600" cy="1325563"/>
          </a:xfrm>
        </p:spPr>
        <p:txBody>
          <a:bodyPr/>
          <a:lstStyle/>
          <a:p>
            <a:r>
              <a:rPr lang="en-US" b="1" dirty="0"/>
              <a:t>Household Round Form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FE3499-05E6-1C1E-B47A-6DF65F66D6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524879"/>
              </p:ext>
            </p:extLst>
          </p:nvPr>
        </p:nvGraphicFramePr>
        <p:xfrm>
          <a:off x="743414" y="1147144"/>
          <a:ext cx="10705172" cy="5383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5220">
                  <a:extLst>
                    <a:ext uri="{9D8B030D-6E8A-4147-A177-3AD203B41FA5}">
                      <a16:colId xmlns:a16="http://schemas.microsoft.com/office/drawing/2014/main" val="973213065"/>
                    </a:ext>
                  </a:extLst>
                </a:gridCol>
                <a:gridCol w="5649952">
                  <a:extLst>
                    <a:ext uri="{9D8B030D-6E8A-4147-A177-3AD203B41FA5}">
                      <a16:colId xmlns:a16="http://schemas.microsoft.com/office/drawing/2014/main" val="2165018729"/>
                    </a:ext>
                  </a:extLst>
                </a:gridCol>
              </a:tblGrid>
              <a:tr h="732796">
                <a:tc>
                  <a:txBody>
                    <a:bodyPr/>
                    <a:lstStyle/>
                    <a:p>
                      <a:r>
                        <a:rPr lang="en-US" sz="2400" dirty="0"/>
                        <a:t>Discussion point/Variable 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Remarks/Suggestions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560891"/>
                  </a:ext>
                </a:extLst>
              </a:tr>
              <a:tr h="1103243">
                <a:tc>
                  <a:txBody>
                    <a:bodyPr/>
                    <a:lstStyle/>
                    <a:p>
                      <a:pPr lvl="0"/>
                      <a:r>
                        <a:rPr lang="en-GB" sz="2400" b="1" dirty="0"/>
                        <a:t>Variable ID 9: Women's Permanent ID 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7638" lvl="1" indent="-42863">
                        <a:tabLst/>
                      </a:pPr>
                      <a:r>
                        <a:rPr lang="en-GB" sz="2400" dirty="0"/>
                        <a:t>Does it mean Aadhar or any authorised identification card</a:t>
                      </a:r>
                    </a:p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037051"/>
                  </a:ext>
                </a:extLst>
              </a:tr>
              <a:tr h="606295">
                <a:tc>
                  <a:txBody>
                    <a:bodyPr/>
                    <a:lstStyle/>
                    <a:p>
                      <a:r>
                        <a:rPr lang="en-GB" sz="2400" b="1" dirty="0"/>
                        <a:t>Relevance of variable no 17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2400" b="0" i="1" dirty="0"/>
                        <a:t>line number</a:t>
                      </a:r>
                      <a:endParaRPr lang="en-IN" sz="2400" b="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051448"/>
                  </a:ext>
                </a:extLst>
              </a:tr>
              <a:tr h="1256555">
                <a:tc>
                  <a:txBody>
                    <a:bodyPr/>
                    <a:lstStyle/>
                    <a:p>
                      <a:r>
                        <a:rPr lang="en-GB" sz="2400" b="1" dirty="0"/>
                        <a:t>Relevance of “24A”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2400" i="1" dirty="0"/>
                        <a:t>If age 5 or older Has (name) ever attended school including online classes?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070052"/>
                  </a:ext>
                </a:extLst>
              </a:tr>
              <a:tr h="1599371">
                <a:tc>
                  <a:txBody>
                    <a:bodyPr/>
                    <a:lstStyle/>
                    <a:p>
                      <a:r>
                        <a:rPr lang="en-GB" sz="2400" b="1" dirty="0"/>
                        <a:t>Relevance of  “24B”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i="1" dirty="0"/>
                        <a:t>What is the highest grade (name) has ever completed?, </a:t>
                      </a:r>
                      <a:r>
                        <a:rPr lang="en-GB" sz="2400" dirty="0"/>
                        <a:t>as the subject of interest is WRA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189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6070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927854-86E7-9647-0687-094BE390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Pregnant Enrollment Form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CC0C71-272F-F845-8237-66EB8F6BDB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478139"/>
              </p:ext>
            </p:extLst>
          </p:nvPr>
        </p:nvGraphicFramePr>
        <p:xfrm>
          <a:off x="743409" y="2332108"/>
          <a:ext cx="10705172" cy="42496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05172">
                  <a:extLst>
                    <a:ext uri="{9D8B030D-6E8A-4147-A177-3AD203B41FA5}">
                      <a16:colId xmlns:a16="http://schemas.microsoft.com/office/drawing/2014/main" val="973213065"/>
                    </a:ext>
                  </a:extLst>
                </a:gridCol>
              </a:tblGrid>
              <a:tr h="473343">
                <a:tc>
                  <a:txBody>
                    <a:bodyPr/>
                    <a:lstStyle/>
                    <a:p>
                      <a:r>
                        <a:rPr lang="en-US" sz="2400" dirty="0"/>
                        <a:t>Remarks/Suggestions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560891"/>
                  </a:ext>
                </a:extLst>
              </a:tr>
              <a:tr h="10824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After every question where the quantitative variable is asked, an indicative means of verifications may be mentioned (such as Record Review/Physical assessment/measurement in site)  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189743"/>
                  </a:ext>
                </a:extLst>
              </a:tr>
              <a:tr h="10331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Need to assess equitable service and mortality: </a:t>
                      </a:r>
                      <a:r>
                        <a:rPr lang="en-GB" sz="2400" dirty="0">
                          <a:solidFill>
                            <a:schemeClr val="accent4">
                              <a:lumMod val="50000"/>
                            </a:schemeClr>
                          </a:solidFill>
                        </a:rPr>
                        <a:t>fathers' history, question on social categories and income status, religion, domestic violence?</a:t>
                      </a:r>
                      <a:endParaRPr lang="en-IN" sz="2400" dirty="0">
                        <a:solidFill>
                          <a:schemeClr val="accent4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865042"/>
                  </a:ext>
                </a:extLst>
              </a:tr>
              <a:tr h="14155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Previous obstetric history and GPLA score and outcome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Occupational and demographic characteristics </a:t>
                      </a:r>
                      <a:r>
                        <a:rPr lang="en-GB" sz="2400" dirty="0"/>
                        <a:t>(may be in baseline)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 </a:t>
                      </a:r>
                      <a:r>
                        <a:rPr lang="en-GB" sz="2400" dirty="0">
                          <a:highlight>
                            <a:srgbClr val="FFFF00"/>
                          </a:highlight>
                        </a:rPr>
                        <a:t>(may be in baseline form 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610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3338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1CB532-54C8-86B8-81A1-FB35CD63B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53B2A0-8790-80DB-2E07-CC26377C4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Pregnant Enrollment Form (contd.)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EC3BC-EBA0-683F-8994-C95F39F47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1900" dirty="0"/>
          </a:p>
          <a:p>
            <a:pPr marL="457200" lvl="1" indent="0">
              <a:buNone/>
            </a:pPr>
            <a:endParaRPr lang="en-GB" sz="1900" dirty="0"/>
          </a:p>
          <a:p>
            <a:pPr marL="223838" lvl="1" indent="-168275"/>
            <a:r>
              <a:rPr lang="en-US" sz="1900" dirty="0"/>
              <a:t>Operational definition of</a:t>
            </a:r>
            <a:endParaRPr lang="en-IN" sz="1900" dirty="0"/>
          </a:p>
          <a:p>
            <a:pPr marL="914400" lvl="1" indent="-457200">
              <a:buAutoNum type="alphaLcParenR"/>
            </a:pPr>
            <a:endParaRPr lang="en-IN" sz="1900" dirty="0"/>
          </a:p>
          <a:p>
            <a:endParaRPr lang="en-US" sz="19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33B7DE5-DA74-5E41-6CB1-FDCEFEE543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527961"/>
              </p:ext>
            </p:extLst>
          </p:nvPr>
        </p:nvGraphicFramePr>
        <p:xfrm>
          <a:off x="743408" y="2387291"/>
          <a:ext cx="10705172" cy="3475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5220">
                  <a:extLst>
                    <a:ext uri="{9D8B030D-6E8A-4147-A177-3AD203B41FA5}">
                      <a16:colId xmlns:a16="http://schemas.microsoft.com/office/drawing/2014/main" val="973213065"/>
                    </a:ext>
                  </a:extLst>
                </a:gridCol>
                <a:gridCol w="5649952">
                  <a:extLst>
                    <a:ext uri="{9D8B030D-6E8A-4147-A177-3AD203B41FA5}">
                      <a16:colId xmlns:a16="http://schemas.microsoft.com/office/drawing/2014/main" val="2165018729"/>
                    </a:ext>
                  </a:extLst>
                </a:gridCol>
              </a:tblGrid>
              <a:tr h="732796">
                <a:tc>
                  <a:txBody>
                    <a:bodyPr/>
                    <a:lstStyle/>
                    <a:p>
                      <a:r>
                        <a:rPr lang="en-US" sz="2400" dirty="0"/>
                        <a:t>Discussion point/Variable 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Remarks/Suggestions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560891"/>
                  </a:ext>
                </a:extLst>
              </a:tr>
              <a:tr h="1103243">
                <a:tc>
                  <a:txBody>
                    <a:bodyPr/>
                    <a:lstStyle/>
                    <a:p>
                      <a:pPr lvl="0"/>
                      <a:r>
                        <a:rPr lang="en-GB" sz="2400" b="1" dirty="0"/>
                        <a:t>Variable ID 16:</a:t>
                      </a:r>
                      <a:r>
                        <a:rPr lang="en-GB" sz="2400" dirty="0"/>
                        <a:t> Do you have the reports for your second or third ultrasound tests?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90500" lvl="1" indent="-42863">
                        <a:buFontTx/>
                        <a:buNone/>
                        <a:tabLst/>
                      </a:pPr>
                      <a:r>
                        <a:rPr lang="en-GB" sz="2400" dirty="0"/>
                        <a:t>This can be part of follow up form, as generally more than one ultrasound would have been rarely done during initial stage of Enrollment of PWs. </a:t>
                      </a:r>
                    </a:p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037051"/>
                  </a:ext>
                </a:extLst>
              </a:tr>
              <a:tr h="606295">
                <a:tc>
                  <a:txBody>
                    <a:bodyPr/>
                    <a:lstStyle/>
                    <a:p>
                      <a:r>
                        <a:rPr lang="en-US" sz="2400" b="1" dirty="0"/>
                        <a:t>Operational definition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3838" lvl="1" indent="-168275"/>
                      <a:r>
                        <a:rPr lang="en-US" sz="2400" dirty="0"/>
                        <a:t>poor appetite, baby moving less than normal, severe headache.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051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3711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9C5432-5E1C-A4E3-9894-2340B8F0B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Pregnancy follow up form</a:t>
            </a:r>
            <a:b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28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C6FA0D-4DF5-6BAF-7D7A-4269EC3C34CD}"/>
              </a:ext>
            </a:extLst>
          </p:cNvPr>
          <p:cNvSpPr txBox="1"/>
          <p:nvPr/>
        </p:nvSpPr>
        <p:spPr>
          <a:xfrm>
            <a:off x="1155548" y="2217343"/>
            <a:ext cx="9880893" cy="3959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>
              <a:effectLst/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>
              <a:effectLst/>
            </a:endParaRP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effectLst/>
              </a:rPr>
              <a:t>The option for Short (for telephonic) and long form (for physical) is available. Those participants whose short forms are taken</a:t>
            </a:r>
            <a:r>
              <a:rPr lang="en-US" sz="1700" b="1" dirty="0">
                <a:effectLst/>
              </a:rPr>
              <a:t>, does long form interview is also required?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>
              <a:effectLst/>
            </a:endParaRP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E29F7B6-4961-135C-B18E-3400243C5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568989"/>
              </p:ext>
            </p:extLst>
          </p:nvPr>
        </p:nvGraphicFramePr>
        <p:xfrm>
          <a:off x="743408" y="2360178"/>
          <a:ext cx="10705172" cy="4303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5220">
                  <a:extLst>
                    <a:ext uri="{9D8B030D-6E8A-4147-A177-3AD203B41FA5}">
                      <a16:colId xmlns:a16="http://schemas.microsoft.com/office/drawing/2014/main" val="973213065"/>
                    </a:ext>
                  </a:extLst>
                </a:gridCol>
                <a:gridCol w="5649952">
                  <a:extLst>
                    <a:ext uri="{9D8B030D-6E8A-4147-A177-3AD203B41FA5}">
                      <a16:colId xmlns:a16="http://schemas.microsoft.com/office/drawing/2014/main" val="2165018729"/>
                    </a:ext>
                  </a:extLst>
                </a:gridCol>
              </a:tblGrid>
              <a:tr h="732796">
                <a:tc>
                  <a:txBody>
                    <a:bodyPr/>
                    <a:lstStyle/>
                    <a:p>
                      <a:r>
                        <a:rPr lang="en-US" sz="2400" dirty="0"/>
                        <a:t>Discussion point/Variable 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Remarks/Suggestions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560891"/>
                  </a:ext>
                </a:extLst>
              </a:tr>
              <a:tr h="1223845"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Relevance of </a:t>
                      </a:r>
                      <a:r>
                        <a:rPr lang="en-US" sz="2400" b="1" dirty="0">
                          <a:effectLst/>
                        </a:rPr>
                        <a:t>variable no 70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3838" lvl="1" indent="-168275"/>
                      <a:r>
                        <a:rPr lang="en-US" sz="2400" dirty="0">
                          <a:effectLst/>
                        </a:rPr>
                        <a:t>Eligibility for ultrasound form” (eligible/not-eligible)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051448"/>
                  </a:ext>
                </a:extLst>
              </a:tr>
              <a:tr h="792694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effectLst/>
                        </a:rPr>
                        <a:t>After every question where the quantitative variable is asked, an indicative means of verifications may be mentioned (such as Record Review/Physical assessment/measurement in site)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340537"/>
                  </a:ext>
                </a:extLst>
              </a:tr>
              <a:tr h="792694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Can current </a:t>
                      </a:r>
                      <a:r>
                        <a:rPr lang="en-US" sz="2400" dirty="0" err="1"/>
                        <a:t>PoG</a:t>
                      </a:r>
                      <a:r>
                        <a:rPr lang="en-US" sz="2400" dirty="0"/>
                        <a:t> be mentioned in follow ups forms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223838" lvl="1" indent="-168275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7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147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B5712-2550-75EF-558B-91CA3B7BD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0"/>
            <a:ext cx="10515600" cy="1325563"/>
          </a:xfrm>
        </p:spPr>
        <p:txBody>
          <a:bodyPr/>
          <a:lstStyle/>
          <a:p>
            <a:r>
              <a:rPr lang="en-GB" b="1"/>
              <a:t>Pregnancy outcome form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4AB640C-CEB4-BBDD-0F08-87E7E6A1E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280099"/>
              </p:ext>
            </p:extLst>
          </p:nvPr>
        </p:nvGraphicFramePr>
        <p:xfrm>
          <a:off x="342900" y="1057776"/>
          <a:ext cx="11506200" cy="52436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3484">
                  <a:extLst>
                    <a:ext uri="{9D8B030D-6E8A-4147-A177-3AD203B41FA5}">
                      <a16:colId xmlns:a16="http://schemas.microsoft.com/office/drawing/2014/main" val="973213065"/>
                    </a:ext>
                  </a:extLst>
                </a:gridCol>
                <a:gridCol w="6072716">
                  <a:extLst>
                    <a:ext uri="{9D8B030D-6E8A-4147-A177-3AD203B41FA5}">
                      <a16:colId xmlns:a16="http://schemas.microsoft.com/office/drawing/2014/main" val="2165018729"/>
                    </a:ext>
                  </a:extLst>
                </a:gridCol>
              </a:tblGrid>
              <a:tr h="515843">
                <a:tc>
                  <a:txBody>
                    <a:bodyPr/>
                    <a:lstStyle/>
                    <a:p>
                      <a:r>
                        <a:rPr lang="en-US" sz="2400" dirty="0"/>
                        <a:t>Discussion point/Variable 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Remarks/Suggestions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560891"/>
                  </a:ext>
                </a:extLst>
              </a:tr>
              <a:tr h="935665">
                <a:tc>
                  <a:txBody>
                    <a:bodyPr/>
                    <a:lstStyle/>
                    <a:p>
                      <a:r>
                        <a:rPr lang="en-GB" sz="2400" b="1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Variable 38 :</a:t>
                      </a:r>
                      <a:r>
                        <a:rPr lang="en-GB" sz="24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 Why didn’t you deliver in the health facility. 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3838" lvl="1" indent="-168275"/>
                      <a:r>
                        <a:rPr lang="en-GB" sz="24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The option of delay in “Decision to Seek Care” may be added. 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051448"/>
                  </a:ext>
                </a:extLst>
              </a:tr>
              <a:tr h="987727">
                <a:tc>
                  <a:txBody>
                    <a:bodyPr/>
                    <a:lstStyle/>
                    <a:p>
                      <a:r>
                        <a:rPr lang="en-GB" sz="2400" b="1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Variable 44 :</a:t>
                      </a:r>
                      <a:r>
                        <a:rPr lang="en-GB" sz="24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 Why didn’t you deliver in the health facility. </a:t>
                      </a:r>
                      <a:endParaRPr lang="en-IN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463" indent="38100" algn="just"/>
                      <a:r>
                        <a:rPr lang="en-GB" sz="24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The option of delay in “Decision to Seek Care” may be added. 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777143"/>
                  </a:ext>
                </a:extLst>
              </a:tr>
              <a:tr h="792694">
                <a:tc gridSpan="2"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GB" sz="2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After every question where the quantitative variable is asked, an indicative means of verifications may be mentioned (such as Record Review/Physical assessment/measurement in site/SN interview)  such as </a:t>
                      </a:r>
                      <a:r>
                        <a:rPr lang="en-GB" sz="24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amniotic fluid, injections given etc </a:t>
                      </a:r>
                      <a:endParaRPr lang="en-GB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340537"/>
                  </a:ext>
                </a:extLst>
              </a:tr>
              <a:tr h="792694">
                <a:tc gridSpan="2">
                  <a:txBody>
                    <a:bodyPr/>
                    <a:lstStyle/>
                    <a:p>
                      <a:pPr lvl="0" algn="just"/>
                      <a:r>
                        <a:rPr lang="en-GB" sz="2400" kern="100" dirty="0">
                          <a:solidFill>
                            <a:srgbClr val="000000"/>
                          </a:solidFill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Gender assigned at birth as new variable.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223838" lvl="1" indent="-168275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725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lvl="0" algn="just"/>
                      <a:r>
                        <a:rPr lang="en-GB" sz="24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An option of “uploading discharge summary sheet document” may be added</a:t>
                      </a:r>
                      <a:endParaRPr lang="en-GB" sz="2400" kern="100" dirty="0">
                        <a:solidFill>
                          <a:srgbClr val="000000"/>
                        </a:solidFill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6074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5369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28214A-BCED-CFEF-6DDC-113DB24A7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Birth Assessment  form</a:t>
            </a:r>
            <a:endParaRPr lang="en-US" sz="4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9DBBC52-0F67-D2B9-4F34-252F2612DE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3591"/>
              </p:ext>
            </p:extLst>
          </p:nvPr>
        </p:nvGraphicFramePr>
        <p:xfrm>
          <a:off x="534286" y="2531205"/>
          <a:ext cx="11506200" cy="2439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3484">
                  <a:extLst>
                    <a:ext uri="{9D8B030D-6E8A-4147-A177-3AD203B41FA5}">
                      <a16:colId xmlns:a16="http://schemas.microsoft.com/office/drawing/2014/main" val="973213065"/>
                    </a:ext>
                  </a:extLst>
                </a:gridCol>
                <a:gridCol w="6072716">
                  <a:extLst>
                    <a:ext uri="{9D8B030D-6E8A-4147-A177-3AD203B41FA5}">
                      <a16:colId xmlns:a16="http://schemas.microsoft.com/office/drawing/2014/main" val="2165018729"/>
                    </a:ext>
                  </a:extLst>
                </a:gridCol>
              </a:tblGrid>
              <a:tr h="515843">
                <a:tc>
                  <a:txBody>
                    <a:bodyPr/>
                    <a:lstStyle/>
                    <a:p>
                      <a:r>
                        <a:rPr lang="en-US" sz="2400" dirty="0"/>
                        <a:t>Discussion point/Variable 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Remarks/Suggestions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560891"/>
                  </a:ext>
                </a:extLst>
              </a:tr>
              <a:tr h="935665">
                <a:tc>
                  <a:txBody>
                    <a:bodyPr/>
                    <a:lstStyle/>
                    <a:p>
                      <a:pPr marL="0" lvl="0" indent="0">
                        <a:buFontTx/>
                        <a:buNone/>
                      </a:pPr>
                      <a:r>
                        <a:rPr lang="en-GB" sz="2400" b="1" dirty="0"/>
                        <a:t>Variable no 11: </a:t>
                      </a:r>
                      <a:r>
                        <a:rPr lang="en-GB" sz="2400" dirty="0"/>
                        <a:t>was interviewer present during the delivery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GB" sz="2400" dirty="0"/>
                        <a:t>Feasibility?</a:t>
                      </a:r>
                      <a:endParaRPr lang="en-GB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051448"/>
                  </a:ext>
                </a:extLst>
              </a:tr>
              <a:tr h="987727">
                <a:tc>
                  <a:txBody>
                    <a:bodyPr/>
                    <a:lstStyle/>
                    <a:p>
                      <a:r>
                        <a:rPr lang="en-GB" sz="2400" b="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angal" panose="02040503050203030202" pitchFamily="18" charset="0"/>
                        </a:rPr>
                        <a:t>Addition of variable </a:t>
                      </a:r>
                      <a:endParaRPr lang="en-IN" sz="24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GB" sz="2400" dirty="0"/>
                        <a:t>Hep B  administration as birth dose may be asked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777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9057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9E9EA6-DAC3-8E4B-68FF-87F67DF5B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GB" sz="4000" b="1">
                <a:solidFill>
                  <a:schemeClr val="bg1"/>
                </a:solidFill>
              </a:rPr>
              <a:t>Child death form</a:t>
            </a:r>
            <a:endParaRPr lang="en-US" sz="4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94111A-DDEA-BB3A-55FF-3734A75E6C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559406"/>
              </p:ext>
            </p:extLst>
          </p:nvPr>
        </p:nvGraphicFramePr>
        <p:xfrm>
          <a:off x="342895" y="2181360"/>
          <a:ext cx="11506200" cy="44520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07970">
                  <a:extLst>
                    <a:ext uri="{9D8B030D-6E8A-4147-A177-3AD203B41FA5}">
                      <a16:colId xmlns:a16="http://schemas.microsoft.com/office/drawing/2014/main" val="973213065"/>
                    </a:ext>
                  </a:extLst>
                </a:gridCol>
                <a:gridCol w="3598230">
                  <a:extLst>
                    <a:ext uri="{9D8B030D-6E8A-4147-A177-3AD203B41FA5}">
                      <a16:colId xmlns:a16="http://schemas.microsoft.com/office/drawing/2014/main" val="2165018729"/>
                    </a:ext>
                  </a:extLst>
                </a:gridCol>
              </a:tblGrid>
              <a:tr h="702988">
                <a:tc>
                  <a:txBody>
                    <a:bodyPr/>
                    <a:lstStyle/>
                    <a:p>
                      <a:r>
                        <a:rPr lang="en-US" sz="2400" dirty="0"/>
                        <a:t>Discussion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Remarks/Suggestions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560891"/>
                  </a:ext>
                </a:extLst>
              </a:tr>
              <a:tr h="1923392">
                <a:tc>
                  <a:txBody>
                    <a:bodyPr/>
                    <a:lstStyle/>
                    <a:p>
                      <a:pPr marL="0" lvl="0" indent="0">
                        <a:buFontTx/>
                        <a:buNone/>
                      </a:pPr>
                      <a:r>
                        <a:rPr lang="en-GB" sz="2400" dirty="0"/>
                        <a:t>Do we need details of </a:t>
                      </a:r>
                      <a:r>
                        <a:rPr lang="en-GB" sz="2400" b="1" dirty="0"/>
                        <a:t>sickness form </a:t>
                      </a:r>
                      <a:r>
                        <a:rPr lang="en-GB" sz="2400" dirty="0"/>
                        <a:t>at the time of death? </a:t>
                      </a:r>
                    </a:p>
                    <a:p>
                      <a:pPr lvl="0"/>
                      <a:r>
                        <a:rPr lang="en-GB" sz="2400" b="1" dirty="0"/>
                        <a:t>injury or accident:</a:t>
                      </a:r>
                      <a:r>
                        <a:rPr lang="en-GB" sz="2400" dirty="0"/>
                        <a:t> Drowning, Homicide/assault , Poisoning , bite/sting, burns, natural disaster</a:t>
                      </a:r>
                    </a:p>
                    <a:p>
                      <a:pPr lvl="0"/>
                      <a:endParaRPr lang="en-IN" sz="2400" dirty="0"/>
                    </a:p>
                    <a:p>
                      <a:pPr lvl="0"/>
                      <a:r>
                        <a:rPr lang="en-GB" sz="2400" b="1" dirty="0"/>
                        <a:t>Sickness:</a:t>
                      </a:r>
                      <a:r>
                        <a:rPr lang="en-GB" sz="2400" dirty="0"/>
                        <a:t> history of fever, chest indrawing, fast breathing, diarrhoea, vomiting, redness around, or discharge from, the umbilical cord stump, pustules/rashes, yellow eyes or skin, spasms, bulging fontanelle, unconscious, legs or lips discoloured, yellow Palms/soles, Malena, immunization status etc)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GB" sz="2400" b="0" dirty="0"/>
                        <a:t>May be considered as this is part of CDR done at the district level.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051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9082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C3B07-B72A-A854-3CD2-0900A9484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102" y="106752"/>
            <a:ext cx="10515600" cy="1325563"/>
          </a:xfrm>
        </p:spPr>
        <p:txBody>
          <a:bodyPr/>
          <a:lstStyle/>
          <a:p>
            <a:r>
              <a:rPr lang="en-US" dirty="0"/>
              <a:t>Duration of questionnaire administration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7C3B282-9B6D-9162-1771-B11DB8BBF8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6801451"/>
              </p:ext>
            </p:extLst>
          </p:nvPr>
        </p:nvGraphicFramePr>
        <p:xfrm>
          <a:off x="838200" y="1198398"/>
          <a:ext cx="10515600" cy="5356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6256024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05307532"/>
                    </a:ext>
                  </a:extLst>
                </a:gridCol>
              </a:tblGrid>
              <a:tr h="393056">
                <a:tc>
                  <a:txBody>
                    <a:bodyPr/>
                    <a:lstStyle/>
                    <a:p>
                      <a:r>
                        <a:rPr lang="en-US" dirty="0"/>
                        <a:t>Questionnaire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Duration (minutes)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597930"/>
                  </a:ext>
                </a:extLst>
              </a:tr>
              <a:tr h="393056">
                <a:tc>
                  <a:txBody>
                    <a:bodyPr/>
                    <a:lstStyle/>
                    <a:p>
                      <a:r>
                        <a:rPr lang="en-IN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Baseline household questionnaire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163534"/>
                  </a:ext>
                </a:extLst>
              </a:tr>
              <a:tr h="393056">
                <a:tc>
                  <a:txBody>
                    <a:bodyPr/>
                    <a:lstStyle/>
                    <a:p>
                      <a:r>
                        <a:rPr lang="en-IN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Baseline woman’s questionnaire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3935712"/>
                  </a:ext>
                </a:extLst>
              </a:tr>
              <a:tr h="393056">
                <a:tc>
                  <a:txBody>
                    <a:bodyPr/>
                    <a:lstStyle/>
                    <a:p>
                      <a:r>
                        <a:rPr lang="en-IN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Household rounds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635485"/>
                  </a:ext>
                </a:extLst>
              </a:tr>
              <a:tr h="393056">
                <a:tc>
                  <a:txBody>
                    <a:bodyPr/>
                    <a:lstStyle/>
                    <a:p>
                      <a:r>
                        <a:rPr lang="en-IN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Pregnancy Enrollment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35-40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6400806"/>
                  </a:ext>
                </a:extLst>
              </a:tr>
              <a:tr h="3930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Ultrasound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12-15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075361"/>
                  </a:ext>
                </a:extLst>
              </a:tr>
              <a:tr h="613322">
                <a:tc>
                  <a:txBody>
                    <a:bodyPr/>
                    <a:lstStyle/>
                    <a:p>
                      <a:r>
                        <a:rPr lang="en-IN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Pregnancy follow-up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Telephonic- 10-12 </a:t>
                      </a:r>
                    </a:p>
                    <a:p>
                      <a:r>
                        <a:rPr lang="en-US" dirty="0"/>
                        <a:t>Physical- 25-30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4434220"/>
                  </a:ext>
                </a:extLst>
              </a:tr>
              <a:tr h="393056">
                <a:tc>
                  <a:txBody>
                    <a:bodyPr/>
                    <a:lstStyle/>
                    <a:p>
                      <a:r>
                        <a:rPr lang="en-IN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Pregnancy outcome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40-45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797198"/>
                  </a:ext>
                </a:extLst>
              </a:tr>
              <a:tr h="393056">
                <a:tc>
                  <a:txBody>
                    <a:bodyPr/>
                    <a:lstStyle/>
                    <a:p>
                      <a:r>
                        <a:rPr lang="en-IN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Birth assessment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40-45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803361"/>
                  </a:ext>
                </a:extLst>
              </a:tr>
              <a:tr h="3930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Stillbirth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377573"/>
                  </a:ext>
                </a:extLst>
              </a:tr>
              <a:tr h="393056">
                <a:tc>
                  <a:txBody>
                    <a:bodyPr/>
                    <a:lstStyle/>
                    <a:p>
                      <a:r>
                        <a:rPr lang="en-IN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newborn follow-up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25-30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914754"/>
                  </a:ext>
                </a:extLst>
              </a:tr>
              <a:tr h="3930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Child death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326726"/>
                  </a:ext>
                </a:extLst>
              </a:tr>
              <a:tr h="3930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Verbal autopsy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454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4768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EE0A42-81FC-15CE-00E4-617DDC2DD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7957663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794</Words>
  <Application>Microsoft Macintosh PowerPoint</Application>
  <PresentationFormat>Widescreen</PresentationFormat>
  <Paragraphs>105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Feedback/Comments on Questionnaire </vt:lpstr>
      <vt:lpstr>Form summary</vt:lpstr>
      <vt:lpstr>Baseline household questionnaire  </vt:lpstr>
      <vt:lpstr>Household Round Form</vt:lpstr>
      <vt:lpstr>Pregnant Enrollment Form</vt:lpstr>
      <vt:lpstr>Pregnant Enrollment Form (contd.)</vt:lpstr>
      <vt:lpstr>Pregnancy follow up form </vt:lpstr>
      <vt:lpstr>Pregnancy outcome form</vt:lpstr>
      <vt:lpstr>Birth Assessment  form</vt:lpstr>
      <vt:lpstr>Child death form</vt:lpstr>
      <vt:lpstr>Duration of questionnaire administration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Ashutosh Kothari</dc:creator>
  <cp:lastModifiedBy>Ashutosh Kothari</cp:lastModifiedBy>
  <cp:revision>5</cp:revision>
  <dcterms:created xsi:type="dcterms:W3CDTF">2026-06-01T10:25:54Z</dcterms:created>
  <dcterms:modified xsi:type="dcterms:W3CDTF">2026-06-02T05:51:02Z</dcterms:modified>
</cp:coreProperties>
</file>