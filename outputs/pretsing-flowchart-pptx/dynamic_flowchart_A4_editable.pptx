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256" d="100"/>
          <a:sy n="256" d="100"/>
        </p:scale>
        <p:origin x="-2168" y="-9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seline Household Questionnaire"/>
          <p:cNvSpPr/>
          <p:nvPr/>
        </p:nvSpPr>
        <p:spPr>
          <a:xfrm>
            <a:off x="3246120" y="1627632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Baseline
Household
Questionnaire</a:t>
            </a:r>
          </a:p>
        </p:txBody>
      </p:sp>
      <p:sp>
        <p:nvSpPr>
          <p:cNvPr id="3" name="Baseline Woman's Questionnaire"/>
          <p:cNvSpPr/>
          <p:nvPr/>
        </p:nvSpPr>
        <p:spPr>
          <a:xfrm>
            <a:off x="3246120" y="246888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Baseline
Woman's
Questionnaire</a:t>
            </a:r>
          </a:p>
        </p:txBody>
      </p:sp>
      <p:sp>
        <p:nvSpPr>
          <p:cNvPr id="4" name="Pregnancy Enrollment Form"/>
          <p:cNvSpPr/>
          <p:nvPr/>
        </p:nvSpPr>
        <p:spPr>
          <a:xfrm>
            <a:off x="3246120" y="3319272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Pregnancy
Enrollment
Form</a:t>
            </a:r>
          </a:p>
        </p:txBody>
      </p:sp>
      <p:sp>
        <p:nvSpPr>
          <p:cNvPr id="5" name="Pregnancy Follow-Up Form 1"/>
          <p:cNvSpPr/>
          <p:nvPr/>
        </p:nvSpPr>
        <p:spPr>
          <a:xfrm>
            <a:off x="3246120" y="416052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Pregnancy
Follow-Up
Form 1</a:t>
            </a:r>
          </a:p>
        </p:txBody>
      </p:sp>
      <p:sp>
        <p:nvSpPr>
          <p:cNvPr id="6" name="Pregnancy Follow-Up Form N"/>
          <p:cNvSpPr/>
          <p:nvPr/>
        </p:nvSpPr>
        <p:spPr>
          <a:xfrm>
            <a:off x="3246120" y="498348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Pregnancy
Follow-Up
Form N</a:t>
            </a:r>
          </a:p>
        </p:txBody>
      </p:sp>
      <p:sp>
        <p:nvSpPr>
          <p:cNvPr id="7" name="Pregnancy Outcome Form"/>
          <p:cNvSpPr/>
          <p:nvPr/>
        </p:nvSpPr>
        <p:spPr>
          <a:xfrm>
            <a:off x="3246120" y="589788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Pregnancy
Outcome
Form</a:t>
            </a:r>
          </a:p>
        </p:txBody>
      </p:sp>
      <p:sp>
        <p:nvSpPr>
          <p:cNvPr id="8" name="Birth Assessment Form"/>
          <p:cNvSpPr/>
          <p:nvPr/>
        </p:nvSpPr>
        <p:spPr>
          <a:xfrm>
            <a:off x="3246120" y="672084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Birth
Assessment
Form</a:t>
            </a:r>
          </a:p>
        </p:txBody>
      </p:sp>
      <p:sp>
        <p:nvSpPr>
          <p:cNvPr id="9" name="Child Follow-Up Form 1"/>
          <p:cNvSpPr/>
          <p:nvPr/>
        </p:nvSpPr>
        <p:spPr>
          <a:xfrm>
            <a:off x="3246120" y="754380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Child
Follow-Up
Form 1</a:t>
            </a:r>
          </a:p>
        </p:txBody>
      </p:sp>
      <p:sp>
        <p:nvSpPr>
          <p:cNvPr id="10" name="Child Follow-Up Form N"/>
          <p:cNvSpPr/>
          <p:nvPr/>
        </p:nvSpPr>
        <p:spPr>
          <a:xfrm>
            <a:off x="3246120" y="8549640"/>
            <a:ext cx="77724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Child
Follow-Up
Form N</a:t>
            </a:r>
          </a:p>
        </p:txBody>
      </p:sp>
      <p:sp>
        <p:nvSpPr>
          <p:cNvPr id="11" name="End of Study Period"/>
          <p:cNvSpPr/>
          <p:nvPr/>
        </p:nvSpPr>
        <p:spPr>
          <a:xfrm>
            <a:off x="3054096" y="9464040"/>
            <a:ext cx="1170432" cy="310896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END OF STUDY PERIOD</a:t>
            </a:r>
          </a:p>
        </p:txBody>
      </p:sp>
      <p:sp>
        <p:nvSpPr>
          <p:cNvPr id="12" name="Household Rounds Form"/>
          <p:cNvSpPr/>
          <p:nvPr/>
        </p:nvSpPr>
        <p:spPr>
          <a:xfrm>
            <a:off x="1024128" y="2468880"/>
            <a:ext cx="822960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Household
Rounds
Form 1,...,N</a:t>
            </a:r>
          </a:p>
        </p:txBody>
      </p:sp>
      <p:sp>
        <p:nvSpPr>
          <p:cNvPr id="13" name="End of Study Period Left"/>
          <p:cNvSpPr/>
          <p:nvPr/>
        </p:nvSpPr>
        <p:spPr>
          <a:xfrm>
            <a:off x="822960" y="4270248"/>
            <a:ext cx="1143000" cy="329184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END OF STUDY PERIOD</a:t>
            </a:r>
          </a:p>
        </p:txBody>
      </p:sp>
      <p:sp>
        <p:nvSpPr>
          <p:cNvPr id="14" name="Ultrasound Form"/>
          <p:cNvSpPr/>
          <p:nvPr/>
        </p:nvSpPr>
        <p:spPr>
          <a:xfrm>
            <a:off x="5650992" y="4160520"/>
            <a:ext cx="804672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Ultrasound
Form</a:t>
            </a:r>
          </a:p>
        </p:txBody>
      </p:sp>
      <p:sp>
        <p:nvSpPr>
          <p:cNvPr id="15" name="End Abort Fetal Death"/>
          <p:cNvSpPr/>
          <p:nvPr/>
        </p:nvSpPr>
        <p:spPr>
          <a:xfrm>
            <a:off x="5650992" y="6263640"/>
            <a:ext cx="804672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END</a:t>
            </a:r>
          </a:p>
        </p:txBody>
      </p:sp>
      <p:sp>
        <p:nvSpPr>
          <p:cNvPr id="16" name="Stillbirth Form"/>
          <p:cNvSpPr/>
          <p:nvPr/>
        </p:nvSpPr>
        <p:spPr>
          <a:xfrm>
            <a:off x="5650992" y="7068312"/>
            <a:ext cx="804672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Stillbirth
Form</a:t>
            </a:r>
          </a:p>
        </p:txBody>
      </p:sp>
      <p:sp>
        <p:nvSpPr>
          <p:cNvPr id="17" name="Child Death Form"/>
          <p:cNvSpPr/>
          <p:nvPr/>
        </p:nvSpPr>
        <p:spPr>
          <a:xfrm>
            <a:off x="5650992" y="7973568"/>
            <a:ext cx="804672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Child
Death
Form</a:t>
            </a:r>
          </a:p>
        </p:txBody>
      </p:sp>
      <p:sp>
        <p:nvSpPr>
          <p:cNvPr id="18" name="Verbal Autopsy"/>
          <p:cNvSpPr/>
          <p:nvPr/>
        </p:nvSpPr>
        <p:spPr>
          <a:xfrm>
            <a:off x="5650992" y="8796528"/>
            <a:ext cx="804672" cy="566928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819" b="1">
                <a:solidFill>
                  <a:srgbClr val="000000"/>
                </a:solidFill>
                <a:latin typeface="Arial"/>
              </a:rPr>
              <a:t>VA</a:t>
            </a:r>
          </a:p>
        </p:txBody>
      </p:sp>
      <p:sp>
        <p:nvSpPr>
          <p:cNvPr id="19" name="No Eligible Women Label"/>
          <p:cNvSpPr txBox="1"/>
          <p:nvPr/>
        </p:nvSpPr>
        <p:spPr>
          <a:xfrm>
            <a:off x="1234440" y="1481328"/>
            <a:ext cx="1371600" cy="31089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Household without eligible women
(= women at risk of becoming pregnant
during study period)</a:t>
            </a:r>
          </a:p>
        </p:txBody>
      </p:sp>
      <p:sp>
        <p:nvSpPr>
          <p:cNvPr id="20" name="Ever Married Label"/>
          <p:cNvSpPr txBox="1"/>
          <p:nvPr/>
        </p:nvSpPr>
        <p:spPr>
          <a:xfrm>
            <a:off x="4498848" y="2212848"/>
            <a:ext cx="1417320" cy="146304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Ever-married woman aged 18-49</a:t>
            </a:r>
          </a:p>
        </p:txBody>
      </p:sp>
      <p:sp>
        <p:nvSpPr>
          <p:cNvPr id="21" name="Existing Eligible Woman Label"/>
          <p:cNvSpPr txBox="1"/>
          <p:nvPr/>
        </p:nvSpPr>
        <p:spPr>
          <a:xfrm>
            <a:off x="2130552" y="2514600"/>
            <a:ext cx="105156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Existing eligible woman</a:t>
            </a:r>
          </a:p>
        </p:txBody>
      </p:sp>
      <p:sp>
        <p:nvSpPr>
          <p:cNvPr id="22" name="New Eligible Woman Label"/>
          <p:cNvSpPr txBox="1"/>
          <p:nvPr/>
        </p:nvSpPr>
        <p:spPr>
          <a:xfrm>
            <a:off x="2176272" y="2944368"/>
            <a:ext cx="91440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New eligible woman</a:t>
            </a:r>
          </a:p>
        </p:txBody>
      </p:sp>
      <p:sp>
        <p:nvSpPr>
          <p:cNvPr id="23" name="Pregnancy Detected Right Label"/>
          <p:cNvSpPr txBox="1"/>
          <p:nvPr/>
        </p:nvSpPr>
        <p:spPr>
          <a:xfrm>
            <a:off x="4498848" y="3044952"/>
            <a:ext cx="96012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Pregnancy detected</a:t>
            </a:r>
          </a:p>
        </p:txBody>
      </p:sp>
      <p:sp>
        <p:nvSpPr>
          <p:cNvPr id="24" name="Pregnancy Detected Left Label"/>
          <p:cNvSpPr txBox="1"/>
          <p:nvPr/>
        </p:nvSpPr>
        <p:spPr>
          <a:xfrm>
            <a:off x="1975104" y="3566160"/>
            <a:ext cx="1078992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Pregnancy detected</a:t>
            </a:r>
          </a:p>
        </p:txBody>
      </p:sp>
      <p:sp>
        <p:nvSpPr>
          <p:cNvPr id="25" name="USG Enrollment Label"/>
          <p:cNvSpPr txBox="1"/>
          <p:nvPr/>
        </p:nvSpPr>
        <p:spPr>
          <a:xfrm>
            <a:off x="4773168" y="3703320"/>
            <a:ext cx="804672" cy="31089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1st USG report
available</a:t>
            </a:r>
          </a:p>
        </p:txBody>
      </p:sp>
      <p:sp>
        <p:nvSpPr>
          <p:cNvPr id="26" name="USG FU1 Label"/>
          <p:cNvSpPr txBox="1"/>
          <p:nvPr/>
        </p:nvSpPr>
        <p:spPr>
          <a:xfrm>
            <a:off x="4279392" y="4187952"/>
            <a:ext cx="950976" cy="201168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1st USG report
available</a:t>
            </a:r>
          </a:p>
        </p:txBody>
      </p:sp>
      <p:sp>
        <p:nvSpPr>
          <p:cNvPr id="27" name="USG FUN Label"/>
          <p:cNvSpPr txBox="1"/>
          <p:nvPr/>
        </p:nvSpPr>
        <p:spPr>
          <a:xfrm>
            <a:off x="4270248" y="5129784"/>
            <a:ext cx="804672" cy="31089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1st USG report
available</a:t>
            </a:r>
          </a:p>
        </p:txBody>
      </p:sp>
      <p:sp>
        <p:nvSpPr>
          <p:cNvPr id="28" name="Delivery Occurs Label"/>
          <p:cNvSpPr txBox="1"/>
          <p:nvPr/>
        </p:nvSpPr>
        <p:spPr>
          <a:xfrm>
            <a:off x="2057400" y="6364224"/>
            <a:ext cx="914400" cy="146304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Delivery Occurs</a:t>
            </a:r>
          </a:p>
        </p:txBody>
      </p:sp>
      <p:sp>
        <p:nvSpPr>
          <p:cNvPr id="29" name="Abortion Label"/>
          <p:cNvSpPr txBox="1"/>
          <p:nvPr/>
        </p:nvSpPr>
        <p:spPr>
          <a:xfrm>
            <a:off x="4617720" y="6172200"/>
            <a:ext cx="914400" cy="21945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Abortion or
fetal death &lt; 20w</a:t>
            </a:r>
          </a:p>
        </p:txBody>
      </p:sp>
      <p:sp>
        <p:nvSpPr>
          <p:cNvPr id="30" name="Fetal Death Label"/>
          <p:cNvSpPr txBox="1"/>
          <p:nvPr/>
        </p:nvSpPr>
        <p:spPr>
          <a:xfrm>
            <a:off x="4754880" y="7077456"/>
            <a:ext cx="86868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Fetal death &gt;= 20w</a:t>
            </a:r>
          </a:p>
        </p:txBody>
      </p:sp>
      <p:sp>
        <p:nvSpPr>
          <p:cNvPr id="31" name="Live Birth Death Label"/>
          <p:cNvSpPr txBox="1"/>
          <p:nvPr/>
        </p:nvSpPr>
        <p:spPr>
          <a:xfrm>
            <a:off x="4538008" y="7557515"/>
            <a:ext cx="804672" cy="21945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 dirty="0">
                <a:solidFill>
                  <a:srgbClr val="000000"/>
                </a:solidFill>
                <a:latin typeface="Arial"/>
              </a:rPr>
              <a:t>Death of a live
birth</a:t>
            </a:r>
          </a:p>
        </p:txBody>
      </p:sp>
      <p:sp>
        <p:nvSpPr>
          <p:cNvPr id="32" name="Child Survived Label"/>
          <p:cNvSpPr txBox="1"/>
          <p:nvPr/>
        </p:nvSpPr>
        <p:spPr>
          <a:xfrm>
            <a:off x="2057400" y="7726679"/>
            <a:ext cx="914400" cy="146304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Child Survived</a:t>
            </a:r>
          </a:p>
        </p:txBody>
      </p:sp>
      <p:sp>
        <p:nvSpPr>
          <p:cNvPr id="33" name="Child Died FU1 Label"/>
          <p:cNvSpPr txBox="1"/>
          <p:nvPr/>
        </p:nvSpPr>
        <p:spPr>
          <a:xfrm>
            <a:off x="3999804" y="7772400"/>
            <a:ext cx="100584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 dirty="0">
                <a:solidFill>
                  <a:srgbClr val="000000"/>
                </a:solidFill>
                <a:latin typeface="Arial"/>
              </a:rPr>
              <a:t>Child died</a:t>
            </a:r>
          </a:p>
        </p:txBody>
      </p:sp>
      <p:sp>
        <p:nvSpPr>
          <p:cNvPr id="34" name="Child Died FUN Label"/>
          <p:cNvSpPr txBox="1"/>
          <p:nvPr/>
        </p:nvSpPr>
        <p:spPr>
          <a:xfrm>
            <a:off x="4910328" y="9052559"/>
            <a:ext cx="100584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 dirty="0">
                <a:solidFill>
                  <a:srgbClr val="000000"/>
                </a:solidFill>
                <a:latin typeface="Arial"/>
              </a:rPr>
              <a:t>Child died</a:t>
            </a:r>
          </a:p>
        </p:txBody>
      </p:sp>
      <p:cxnSp>
        <p:nvCxnSpPr>
          <p:cNvPr id="35" name="HHQ to WQ"/>
          <p:cNvCxnSpPr/>
          <p:nvPr/>
        </p:nvCxnSpPr>
        <p:spPr>
          <a:xfrm>
            <a:off x="3639312" y="2194560"/>
            <a:ext cx="0" cy="27432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WQ to PEF"/>
          <p:cNvCxnSpPr/>
          <p:nvPr/>
        </p:nvCxnSpPr>
        <p:spPr>
          <a:xfrm>
            <a:off x="3639312" y="3035808"/>
            <a:ext cx="0" cy="283464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PEF to PFF1"/>
          <p:cNvCxnSpPr/>
          <p:nvPr/>
        </p:nvCxnSpPr>
        <p:spPr>
          <a:xfrm>
            <a:off x="3639312" y="3886200"/>
            <a:ext cx="0" cy="27432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PFF1 to PFFN dotted"/>
          <p:cNvCxnSpPr/>
          <p:nvPr/>
        </p:nvCxnSpPr>
        <p:spPr>
          <a:xfrm>
            <a:off x="3639312" y="4727448"/>
            <a:ext cx="0" cy="256032"/>
          </a:xfrm>
          <a:prstGeom prst="line">
            <a:avLst/>
          </a:prstGeom>
          <a:ln w="1778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PFFN to POF"/>
          <p:cNvCxnSpPr/>
          <p:nvPr/>
        </p:nvCxnSpPr>
        <p:spPr>
          <a:xfrm>
            <a:off x="3639312" y="5550408"/>
            <a:ext cx="0" cy="347472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POF to BAF"/>
          <p:cNvCxnSpPr/>
          <p:nvPr/>
        </p:nvCxnSpPr>
        <p:spPr>
          <a:xfrm>
            <a:off x="3639312" y="6464808"/>
            <a:ext cx="0" cy="256032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BAF to NFF1"/>
          <p:cNvCxnSpPr/>
          <p:nvPr/>
        </p:nvCxnSpPr>
        <p:spPr>
          <a:xfrm>
            <a:off x="3639312" y="7287768"/>
            <a:ext cx="0" cy="256032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FF1 to NFFN dotted"/>
          <p:cNvCxnSpPr/>
          <p:nvPr/>
        </p:nvCxnSpPr>
        <p:spPr>
          <a:xfrm>
            <a:off x="3639312" y="8110727"/>
            <a:ext cx="0" cy="438913"/>
          </a:xfrm>
          <a:prstGeom prst="line">
            <a:avLst/>
          </a:prstGeom>
          <a:ln w="1778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FFN to Study End"/>
          <p:cNvCxnSpPr/>
          <p:nvPr/>
        </p:nvCxnSpPr>
        <p:spPr>
          <a:xfrm>
            <a:off x="3639312" y="9116568"/>
            <a:ext cx="0" cy="347472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oEligible down"/>
          <p:cNvCxnSpPr/>
          <p:nvPr/>
        </p:nvCxnSpPr>
        <p:spPr>
          <a:xfrm>
            <a:off x="1371600" y="1792224"/>
            <a:ext cx="0" cy="201168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oEligible across"/>
          <p:cNvCxnSpPr/>
          <p:nvPr/>
        </p:nvCxnSpPr>
        <p:spPr>
          <a:xfrm>
            <a:off x="1371600" y="1993392"/>
            <a:ext cx="1874520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oEligible to HRF"/>
          <p:cNvCxnSpPr/>
          <p:nvPr/>
        </p:nvCxnSpPr>
        <p:spPr>
          <a:xfrm>
            <a:off x="1371600" y="1993392"/>
            <a:ext cx="0" cy="475488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HHQ Existing to HRF"/>
          <p:cNvCxnSpPr/>
          <p:nvPr/>
        </p:nvCxnSpPr>
        <p:spPr>
          <a:xfrm flipH="1">
            <a:off x="1847088" y="2606040"/>
            <a:ext cx="1399032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HRF New to WQ"/>
          <p:cNvCxnSpPr/>
          <p:nvPr/>
        </p:nvCxnSpPr>
        <p:spPr>
          <a:xfrm>
            <a:off x="1847088" y="2889504"/>
            <a:ext cx="1399032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HRF Pregnancy to PEF"/>
          <p:cNvCxnSpPr/>
          <p:nvPr/>
        </p:nvCxnSpPr>
        <p:spPr>
          <a:xfrm>
            <a:off x="1847088" y="3035808"/>
            <a:ext cx="1399032" cy="566928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HRF to End"/>
          <p:cNvCxnSpPr/>
          <p:nvPr/>
        </p:nvCxnSpPr>
        <p:spPr>
          <a:xfrm>
            <a:off x="1371600" y="3035808"/>
            <a:ext cx="0" cy="123444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ver Married to WQ"/>
          <p:cNvCxnSpPr/>
          <p:nvPr/>
        </p:nvCxnSpPr>
        <p:spPr>
          <a:xfrm flipH="1">
            <a:off x="4023360" y="2331720"/>
            <a:ext cx="566928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Preg Detected to PEF"/>
          <p:cNvCxnSpPr/>
          <p:nvPr/>
        </p:nvCxnSpPr>
        <p:spPr>
          <a:xfrm flipH="1">
            <a:off x="4023360" y="3182112"/>
            <a:ext cx="566928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EF to UF"/>
          <p:cNvCxnSpPr/>
          <p:nvPr/>
        </p:nvCxnSpPr>
        <p:spPr>
          <a:xfrm>
            <a:off x="4023360" y="3602736"/>
            <a:ext cx="1627632" cy="841248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PFF1 to UF"/>
          <p:cNvCxnSpPr/>
          <p:nvPr/>
        </p:nvCxnSpPr>
        <p:spPr>
          <a:xfrm>
            <a:off x="4023360" y="4443984"/>
            <a:ext cx="1627632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FFN to UF"/>
          <p:cNvCxnSpPr/>
          <p:nvPr/>
        </p:nvCxnSpPr>
        <p:spPr>
          <a:xfrm flipV="1">
            <a:off x="4023360" y="4443984"/>
            <a:ext cx="1627632" cy="82296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Delivery to POF"/>
          <p:cNvCxnSpPr/>
          <p:nvPr/>
        </p:nvCxnSpPr>
        <p:spPr>
          <a:xfrm>
            <a:off x="2889504" y="6318504"/>
            <a:ext cx="356616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BAF to Abort End"/>
          <p:cNvCxnSpPr/>
          <p:nvPr/>
        </p:nvCxnSpPr>
        <p:spPr>
          <a:xfrm flipV="1">
            <a:off x="4023360" y="6547104"/>
            <a:ext cx="1627632" cy="45720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BAF to SBF"/>
          <p:cNvCxnSpPr/>
          <p:nvPr/>
        </p:nvCxnSpPr>
        <p:spPr>
          <a:xfrm>
            <a:off x="4023360" y="7095744"/>
            <a:ext cx="1627632" cy="256031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BAF to CDF"/>
          <p:cNvCxnSpPr/>
          <p:nvPr/>
        </p:nvCxnSpPr>
        <p:spPr>
          <a:xfrm>
            <a:off x="4023360" y="7187184"/>
            <a:ext cx="1627632" cy="1069847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ild Survived to NFF1"/>
          <p:cNvCxnSpPr/>
          <p:nvPr/>
        </p:nvCxnSpPr>
        <p:spPr>
          <a:xfrm>
            <a:off x="2889504" y="7827264"/>
            <a:ext cx="356616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FF1 to CDF"/>
          <p:cNvCxnSpPr/>
          <p:nvPr/>
        </p:nvCxnSpPr>
        <p:spPr>
          <a:xfrm>
            <a:off x="4023360" y="7827264"/>
            <a:ext cx="1627632" cy="429767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FFN to CDF"/>
          <p:cNvCxnSpPr/>
          <p:nvPr/>
        </p:nvCxnSpPr>
        <p:spPr>
          <a:xfrm flipV="1">
            <a:off x="4023360" y="8257031"/>
            <a:ext cx="1627632" cy="576073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DF to VA"/>
          <p:cNvCxnSpPr/>
          <p:nvPr/>
        </p:nvCxnSpPr>
        <p:spPr>
          <a:xfrm>
            <a:off x="6053328" y="8540496"/>
            <a:ext cx="0" cy="256032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BF right"/>
          <p:cNvCxnSpPr/>
          <p:nvPr/>
        </p:nvCxnSpPr>
        <p:spPr>
          <a:xfrm>
            <a:off x="6455664" y="7351775"/>
            <a:ext cx="329184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BF down"/>
          <p:cNvCxnSpPr/>
          <p:nvPr/>
        </p:nvCxnSpPr>
        <p:spPr>
          <a:xfrm>
            <a:off x="6784848" y="7351775"/>
            <a:ext cx="0" cy="1728217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BF to VA"/>
          <p:cNvCxnSpPr/>
          <p:nvPr/>
        </p:nvCxnSpPr>
        <p:spPr>
          <a:xfrm flipH="1">
            <a:off x="6455664" y="9079992"/>
            <a:ext cx="329184" cy="0"/>
          </a:xfrm>
          <a:prstGeom prst="line">
            <a:avLst/>
          </a:prstGeom>
          <a:ln w="1778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ild Died FU1 Label">
            <a:extLst>
              <a:ext uri="{FF2B5EF4-FFF2-40B4-BE49-F238E27FC236}">
                <a16:creationId xmlns:a16="http://schemas.microsoft.com/office/drawing/2014/main" id="{884BBD67-D5FC-16DA-3800-851376EA6209}"/>
              </a:ext>
            </a:extLst>
          </p:cNvPr>
          <p:cNvSpPr txBox="1"/>
          <p:nvPr/>
        </p:nvSpPr>
        <p:spPr>
          <a:xfrm>
            <a:off x="4041649" y="8458199"/>
            <a:ext cx="1005840" cy="128016"/>
          </a:xfrm>
          <a:prstGeom prst="rect">
            <a:avLst/>
          </a:prstGeom>
          <a:noFill/>
          <a:effectLst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600" b="1" dirty="0">
                <a:solidFill>
                  <a:srgbClr val="000000"/>
                </a:solidFill>
                <a:latin typeface="Arial"/>
              </a:rPr>
              <a:t>Child died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</Words>
  <Application>Microsoft Macintosh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Flowchart A4 Editable</dc:title>
  <dc:subject>Editable PowerPoint recreation of dynamic_flowchart_v2.pdf</dc:subject>
  <dc:creator/>
  <cp:keywords/>
  <dc:description>generated using python-pptx</dc:description>
  <cp:lastModifiedBy>Vivek Gupta</cp:lastModifiedBy>
  <cp:revision>3</cp:revision>
  <dcterms:created xsi:type="dcterms:W3CDTF">2013-01-27T09:14:16Z</dcterms:created>
  <dcterms:modified xsi:type="dcterms:W3CDTF">2026-06-03T02:13:00Z</dcterms:modified>
  <cp:category/>
</cp:coreProperties>
</file>